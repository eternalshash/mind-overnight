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11.png" ContentType="image/png"/>
  <Override PartName="/ppt/media/image6.png" ContentType="image/png"/>
  <Override PartName="/ppt/media/image3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31.png" ContentType="image/png"/>
  <Override PartName="/ppt/media/image1.png" ContentType="image/png"/>
  <Override PartName="/ppt/media/image24.png" ContentType="image/png"/>
  <Override PartName="/ppt/media/image14.png" ContentType="image/png"/>
  <Override PartName="/ppt/media/image15.png" ContentType="image/png"/>
  <Override PartName="/ppt/media/image1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6DA97A3-0671-4093-B32A-30640E1ED3D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7240" y="1143000"/>
            <a:ext cx="5467680" cy="30704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70200" cy="358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55600" cy="44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2C3AA75-31AF-45E6-8E7C-568397F13F9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C2AA4C0-EB7F-4264-8C70-146BC25BA7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6A5ECE-29FA-4C71-BA75-0B8A2292D6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AAA809-3FD0-417B-B95B-6334C98EB2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596A48-1AE7-4C03-8832-D045E5F60A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A95067-5CC7-400A-9B13-D8B070149D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B4F73E0-6C07-4FF2-9746-14AAC43B48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5781A6F-FEA5-474B-BA21-A20EFC62D3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2D3D8F-6190-4D75-9B9A-802B2AF1D2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F7AEF1-E00F-4E68-8FBB-DB7F9B0392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424AED-BEEF-4FFC-B31B-A5588737AF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3013504-C812-4DD9-B761-F8FDED8D0A8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4C55BD-80C3-44CE-891D-79395723B16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ECFF7A8-3138-47A9-8236-88570555CA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8D18EA-79EA-4F21-AC82-A30A049E25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0EA6AF-7B79-416B-A15F-02AE0AD53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99EF5A-9A88-40E4-967A-B8586937C8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B49472-9849-4653-95B5-4729C9D0BEB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63DD9F-1137-4A21-981F-2E7F8DF829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10DE14B-21B7-4DA5-A4DF-271B057B91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4E80DBA-A8C9-4D1C-868E-E336A26084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C10B952-A40D-4425-B3FA-8CAA30EEB9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DA8AC9D-D55F-454D-AEAB-F1760C9B4E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F2EE6C4-638B-4892-845D-01C9127451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C552AB-0139-449C-8878-1A90AFDFCF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43"/>
          <p:cNvGrpSpPr/>
          <p:nvPr/>
        </p:nvGrpSpPr>
        <p:grpSpPr>
          <a:xfrm>
            <a:off x="360" y="-8640"/>
            <a:ext cx="12185280" cy="6866640"/>
            <a:chOff x="360" y="-8640"/>
            <a:chExt cx="12185280" cy="6866640"/>
          </a:xfrm>
        </p:grpSpPr>
        <p:sp>
          <p:nvSpPr>
            <p:cNvPr id="1" name="Straight Connector 19"/>
            <p:cNvSpPr/>
            <p:nvPr/>
          </p:nvSpPr>
          <p:spPr>
            <a:xfrm>
              <a:off x="9368640" y="0"/>
              <a:ext cx="121896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" name="Straight Connector 20"/>
            <p:cNvSpPr/>
            <p:nvPr/>
          </p:nvSpPr>
          <p:spPr>
            <a:xfrm flipH="1">
              <a:off x="7423200" y="3681360"/>
              <a:ext cx="476244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" name="Rectangle 23"/>
            <p:cNvSpPr/>
            <p:nvPr/>
          </p:nvSpPr>
          <p:spPr>
            <a:xfrm>
              <a:off x="9179280" y="-8640"/>
              <a:ext cx="2990520" cy="68504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4" name="Rectangle 25"/>
            <p:cNvSpPr/>
            <p:nvPr/>
          </p:nvSpPr>
          <p:spPr>
            <a:xfrm>
              <a:off x="9601200" y="-8640"/>
              <a:ext cx="2571480" cy="68504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5" name="Isosceles Triangle 23"/>
            <p:cNvSpPr/>
            <p:nvPr/>
          </p:nvSpPr>
          <p:spPr>
            <a:xfrm>
              <a:off x="8930160" y="3048120"/>
              <a:ext cx="3242880" cy="3793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" name="Rectangle 27"/>
            <p:cNvSpPr/>
            <p:nvPr/>
          </p:nvSpPr>
          <p:spPr>
            <a:xfrm>
              <a:off x="9332280" y="-8640"/>
              <a:ext cx="2837520" cy="68504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" name="Rectangle 28"/>
            <p:cNvSpPr/>
            <p:nvPr/>
          </p:nvSpPr>
          <p:spPr>
            <a:xfrm>
              <a:off x="10896120" y="-8640"/>
              <a:ext cx="1273680" cy="68504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8" name="Rectangle 29"/>
            <p:cNvSpPr/>
            <p:nvPr/>
          </p:nvSpPr>
          <p:spPr>
            <a:xfrm>
              <a:off x="10936440" y="-8640"/>
              <a:ext cx="1233360" cy="68504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9" name="Isosceles Triangle 27"/>
            <p:cNvSpPr/>
            <p:nvPr/>
          </p:nvSpPr>
          <p:spPr>
            <a:xfrm>
              <a:off x="10369080" y="3589920"/>
              <a:ext cx="1800720" cy="3251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0" name="Isosceles Triangle 18"/>
            <p:cNvSpPr/>
            <p:nvPr/>
          </p:nvSpPr>
          <p:spPr>
            <a:xfrm>
              <a:off x="360" y="4013280"/>
              <a:ext cx="432360" cy="282852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grpSp>
        <p:nvGrpSpPr>
          <p:cNvPr id="11" name="Group 15"/>
          <p:cNvGrpSpPr/>
          <p:nvPr/>
        </p:nvGrpSpPr>
        <p:grpSpPr>
          <a:xfrm>
            <a:off x="360" y="-8640"/>
            <a:ext cx="12185280" cy="6866640"/>
            <a:chOff x="360" y="-8640"/>
            <a:chExt cx="12185280" cy="6866640"/>
          </a:xfrm>
        </p:grpSpPr>
        <p:sp>
          <p:nvSpPr>
            <p:cNvPr id="12" name="Freeform 14"/>
            <p:cNvSpPr/>
            <p:nvPr/>
          </p:nvSpPr>
          <p:spPr>
            <a:xfrm>
              <a:off x="360" y="-7920"/>
              <a:ext cx="847080" cy="5681880"/>
            </a:xfrm>
            <a:custGeom>
              <a:avLst/>
              <a:gd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3" name="Straight Connector 18"/>
            <p:cNvSpPr/>
            <p:nvPr/>
          </p:nvSpPr>
          <p:spPr>
            <a:xfrm>
              <a:off x="9368640" y="0"/>
              <a:ext cx="121896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" name="Straight Connector 19"/>
            <p:cNvSpPr/>
            <p:nvPr/>
          </p:nvSpPr>
          <p:spPr>
            <a:xfrm flipH="1">
              <a:off x="7423200" y="3681360"/>
              <a:ext cx="476244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" name="Rectangle 23"/>
            <p:cNvSpPr/>
            <p:nvPr/>
          </p:nvSpPr>
          <p:spPr>
            <a:xfrm>
              <a:off x="9179280" y="-8640"/>
              <a:ext cx="2990520" cy="68504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6" name="Rectangle 25"/>
            <p:cNvSpPr/>
            <p:nvPr/>
          </p:nvSpPr>
          <p:spPr>
            <a:xfrm>
              <a:off x="9601200" y="-8640"/>
              <a:ext cx="2571480" cy="68504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7" name="Isosceles Triangle 22"/>
            <p:cNvSpPr/>
            <p:nvPr/>
          </p:nvSpPr>
          <p:spPr>
            <a:xfrm>
              <a:off x="8930160" y="3048120"/>
              <a:ext cx="3242880" cy="3793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8" name="Rectangle 27"/>
            <p:cNvSpPr/>
            <p:nvPr/>
          </p:nvSpPr>
          <p:spPr>
            <a:xfrm>
              <a:off x="9332280" y="-8640"/>
              <a:ext cx="2837520" cy="68504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19" name="Rectangle 28"/>
            <p:cNvSpPr/>
            <p:nvPr/>
          </p:nvSpPr>
          <p:spPr>
            <a:xfrm>
              <a:off x="10896120" y="-8640"/>
              <a:ext cx="1273680" cy="68504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0" name="Rectangle 29"/>
            <p:cNvSpPr/>
            <p:nvPr/>
          </p:nvSpPr>
          <p:spPr>
            <a:xfrm>
              <a:off x="10936440" y="-8640"/>
              <a:ext cx="1233360" cy="68504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21" name="Isosceles Triangle 26"/>
            <p:cNvSpPr/>
            <p:nvPr/>
          </p:nvSpPr>
          <p:spPr>
            <a:xfrm>
              <a:off x="10369080" y="3589920"/>
              <a:ext cx="1800720" cy="3251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22" name="PlaceHolder 1"/>
          <p:cNvSpPr>
            <a:spLocks noGrp="1"/>
          </p:cNvSpPr>
          <p:nvPr>
            <p:ph type="ftr" idx="1"/>
          </p:nvPr>
        </p:nvSpPr>
        <p:spPr>
          <a:xfrm>
            <a:off x="676800" y="6041520"/>
            <a:ext cx="627948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2"/>
          </p:nvPr>
        </p:nvSpPr>
        <p:spPr>
          <a:xfrm>
            <a:off x="8588160" y="6041520"/>
            <a:ext cx="66672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DEE6B3C-4AF2-4FA6-B83A-847B579E1AAB}" type="slidenum">
              <a:rPr b="0" lang="en-US" sz="900" spc="-1" strike="noStrike">
                <a:solidFill>
                  <a:srgbClr val="5fcbef"/>
                </a:solidFill>
                <a:latin typeface="Trebuchet MS"/>
                <a:ea typeface="DejaVu San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3"/>
          </p:nvPr>
        </p:nvSpPr>
        <p:spPr>
          <a:xfrm>
            <a:off x="7202880" y="6041520"/>
            <a:ext cx="89532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43"/>
          <p:cNvGrpSpPr/>
          <p:nvPr/>
        </p:nvGrpSpPr>
        <p:grpSpPr>
          <a:xfrm>
            <a:off x="360" y="-8640"/>
            <a:ext cx="12185280" cy="6866640"/>
            <a:chOff x="360" y="-8640"/>
            <a:chExt cx="12185280" cy="6866640"/>
          </a:xfrm>
        </p:grpSpPr>
        <p:sp>
          <p:nvSpPr>
            <p:cNvPr id="64" name="Straight Connector 19"/>
            <p:cNvSpPr/>
            <p:nvPr/>
          </p:nvSpPr>
          <p:spPr>
            <a:xfrm>
              <a:off x="9368640" y="0"/>
              <a:ext cx="1218960" cy="685800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5" name="Straight Connector 20"/>
            <p:cNvSpPr/>
            <p:nvPr/>
          </p:nvSpPr>
          <p:spPr>
            <a:xfrm flipH="1">
              <a:off x="7423200" y="3681360"/>
              <a:ext cx="4762440" cy="3176640"/>
            </a:xfrm>
            <a:prstGeom prst="line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6" name="Rectangle 23"/>
            <p:cNvSpPr/>
            <p:nvPr/>
          </p:nvSpPr>
          <p:spPr>
            <a:xfrm>
              <a:off x="9179280" y="-8640"/>
              <a:ext cx="2990520" cy="6850440"/>
            </a:xfrm>
            <a:custGeom>
              <a:avLst/>
              <a:gd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7" name="Rectangle 25"/>
            <p:cNvSpPr/>
            <p:nvPr/>
          </p:nvSpPr>
          <p:spPr>
            <a:xfrm>
              <a:off x="9601200" y="-8640"/>
              <a:ext cx="2571480" cy="6850440"/>
            </a:xfrm>
            <a:custGeom>
              <a:avLst/>
              <a:gd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8" name="Isosceles Triangle 23"/>
            <p:cNvSpPr/>
            <p:nvPr/>
          </p:nvSpPr>
          <p:spPr>
            <a:xfrm>
              <a:off x="8930160" y="3048120"/>
              <a:ext cx="3242880" cy="3793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69" name="Rectangle 27"/>
            <p:cNvSpPr/>
            <p:nvPr/>
          </p:nvSpPr>
          <p:spPr>
            <a:xfrm>
              <a:off x="9332280" y="-8640"/>
              <a:ext cx="2837520" cy="6850440"/>
            </a:xfrm>
            <a:custGeom>
              <a:avLst/>
              <a:gd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0" name="Rectangle 28"/>
            <p:cNvSpPr/>
            <p:nvPr/>
          </p:nvSpPr>
          <p:spPr>
            <a:xfrm>
              <a:off x="10896120" y="-8640"/>
              <a:ext cx="1273680" cy="6850440"/>
            </a:xfrm>
            <a:custGeom>
              <a:avLst/>
              <a:gd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1" name="Rectangle 29"/>
            <p:cNvSpPr/>
            <p:nvPr/>
          </p:nvSpPr>
          <p:spPr>
            <a:xfrm>
              <a:off x="10936440" y="-8640"/>
              <a:ext cx="1233360" cy="6850440"/>
            </a:xfrm>
            <a:custGeom>
              <a:avLst/>
              <a:gd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2" name="Isosceles Triangle 27"/>
            <p:cNvSpPr/>
            <p:nvPr/>
          </p:nvSpPr>
          <p:spPr>
            <a:xfrm>
              <a:off x="10369080" y="3589920"/>
              <a:ext cx="1800720" cy="3251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  <p:sp>
          <p:nvSpPr>
            <p:cNvPr id="73" name="Isosceles Triangle 18"/>
            <p:cNvSpPr/>
            <p:nvPr/>
          </p:nvSpPr>
          <p:spPr>
            <a:xfrm>
              <a:off x="360" y="4013280"/>
              <a:ext cx="432360" cy="282852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</p:sp>
      </p:grpSp>
      <p:sp>
        <p:nvSpPr>
          <p:cNvPr id="74" name="PlaceHolder 1"/>
          <p:cNvSpPr>
            <a:spLocks noGrp="1"/>
          </p:cNvSpPr>
          <p:nvPr>
            <p:ph type="ftr" idx="4"/>
          </p:nvPr>
        </p:nvSpPr>
        <p:spPr>
          <a:xfrm>
            <a:off x="676800" y="6041520"/>
            <a:ext cx="627948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5"/>
          </p:nvPr>
        </p:nvSpPr>
        <p:spPr>
          <a:xfrm>
            <a:off x="8588160" y="6041520"/>
            <a:ext cx="66672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6660746-52E9-435A-95BC-B76F8CA97FB8}" type="slidenum">
              <a:rPr b="0" lang="en-US" sz="900" spc="-1" strike="noStrike">
                <a:solidFill>
                  <a:srgbClr val="5fcbef"/>
                </a:solidFill>
                <a:latin typeface="Trebuchet MS"/>
                <a:ea typeface="DejaVu Sans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7202880" y="6041520"/>
            <a:ext cx="89532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9kRgVxULbag" TargetMode="Externa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youtube.com/watch?v=fis26HvvDII" TargetMode="External"/><Relationship Id="rId2" Type="http://schemas.openxmlformats.org/officeDocument/2006/relationships/hyperlink" Target="https://www.youtube.com/watch?v=RcSHAkpwXAQ" TargetMode="Externa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14400" y="1233360"/>
            <a:ext cx="8915040" cy="163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5fcbef"/>
                </a:solidFill>
                <a:latin typeface="Trebuchet MS"/>
                <a:ea typeface="DejaVu Sans"/>
              </a:rPr>
              <a:t>ECE 441 Lab 4:</a:t>
            </a:r>
            <a:br>
              <a:rPr sz="3600"/>
            </a:br>
            <a:r>
              <a:rPr b="0" lang="en-US" sz="3600" spc="-1" strike="noStrike">
                <a:solidFill>
                  <a:srgbClr val="5fcbef"/>
                </a:solidFill>
                <a:latin typeface="Trebuchet MS"/>
                <a:ea typeface="DejaVu Sans"/>
              </a:rPr>
              <a:t>Cloud Database and Mobile Device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1506240" y="2879640"/>
            <a:ext cx="7748640" cy="10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000"/>
          </a:bodyPr>
          <a:p>
            <a:pPr marL="228600"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808080"/>
                </a:solidFill>
                <a:latin typeface="Trebuchet MS"/>
                <a:ea typeface="DejaVu Sans"/>
              </a:rPr>
              <a:t> </a:t>
            </a:r>
            <a:endParaRPr b="0" lang="en-US" sz="2200" spc="-1" strike="noStrike">
              <a:latin typeface="Arial"/>
            </a:endParaRPr>
          </a:p>
          <a:p>
            <a:pPr marL="22860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808080"/>
                </a:solidFill>
                <a:latin typeface="Trebuchet MS"/>
                <a:ea typeface="DejaVu Sans"/>
              </a:rPr>
              <a:t>Presented by Mikhail Gromov</a:t>
            </a:r>
            <a:endParaRPr b="0" lang="en-US" sz="2200" spc="-1" strike="noStrike">
              <a:latin typeface="Arial"/>
            </a:endParaRPr>
          </a:p>
          <a:p>
            <a:pPr marL="22860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808080"/>
                </a:solidFill>
                <a:latin typeface="Trebuchet MS"/>
                <a:ea typeface="DejaVu Sans"/>
              </a:rPr>
              <a:t>Instructor: Dr. Jafar Saniie</a:t>
            </a:r>
            <a:endParaRPr b="0" lang="en-US" sz="2200" spc="-1" strike="noStrike">
              <a:latin typeface="Arial"/>
            </a:endParaRPr>
          </a:p>
          <a:p>
            <a:pPr marL="22860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808080"/>
                </a:solidFill>
                <a:latin typeface="Trebuchet MS"/>
                <a:ea typeface="DejaVu Sans"/>
              </a:rPr>
              <a:t>TAs: Xinrui Yu, Tianyang Fang, Mikhail Gromov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123" name="Subtitle 5"/>
          <p:cNvSpPr/>
          <p:nvPr/>
        </p:nvSpPr>
        <p:spPr>
          <a:xfrm>
            <a:off x="1506240" y="3912120"/>
            <a:ext cx="7748640" cy="10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58000"/>
          </a:bodyPr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808080"/>
                </a:solidFill>
                <a:latin typeface="Trebuchet MS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808080"/>
                </a:solidFill>
                <a:latin typeface="Trebuchet MS"/>
                <a:ea typeface="DejaVu Sans"/>
              </a:rPr>
              <a:t>ECASP (Embedded Computing and Signal Processing) Research Laboratory (</a:t>
            </a:r>
            <a:r>
              <a:rPr b="1" lang="en-US" sz="1900" spc="-1" strike="noStrike">
                <a:solidFill>
                  <a:srgbClr val="2a6099"/>
                </a:solidFill>
                <a:latin typeface="Trebuchet MS"/>
                <a:ea typeface="DejaVu Sans"/>
              </a:rPr>
              <a:t>ecasp.ece.iit.edu</a:t>
            </a:r>
            <a:r>
              <a:rPr b="1" lang="en-US" sz="1900" spc="-1" strike="noStrike">
                <a:solidFill>
                  <a:srgbClr val="808080"/>
                </a:solidFill>
                <a:latin typeface="Trebuchet MS"/>
                <a:ea typeface="DejaVu Sans"/>
              </a:rPr>
              <a:t>) </a:t>
            </a:r>
            <a:endParaRPr b="0" lang="en-US" sz="1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808080"/>
                </a:solidFill>
                <a:latin typeface="Trebuchet MS"/>
                <a:ea typeface="DejaVu Sans"/>
              </a:rPr>
              <a:t>Department of Electrical and Computer Engineering </a:t>
            </a:r>
            <a:endParaRPr b="0" lang="en-US" sz="19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808080"/>
                </a:solidFill>
                <a:latin typeface="Trebuchet MS"/>
                <a:ea typeface="DejaVu Sans"/>
              </a:rPr>
              <a:t>Illinois Institute of Technology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0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r>
            <a:endParaRPr b="0" lang="en-US" sz="2000" spc="-1" strike="noStrike">
              <a:latin typeface="Times New Roman"/>
            </a:endParaRPr>
          </a:p>
        </p:txBody>
      </p:sp>
      <p:pic>
        <p:nvPicPr>
          <p:cNvPr id="125" name="Picture 176" descr=""/>
          <p:cNvPicPr/>
          <p:nvPr/>
        </p:nvPicPr>
        <p:blipFill>
          <a:blip r:embed="rId1"/>
          <a:stretch/>
        </p:blipFill>
        <p:spPr>
          <a:xfrm>
            <a:off x="6404040" y="-114264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177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System Diagram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11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488284B6-766E-4731-9897-7F428C2A5188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29" name="Picture 17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18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  <p:pic>
        <p:nvPicPr>
          <p:cNvPr id="131" name="" descr=""/>
          <p:cNvPicPr/>
          <p:nvPr/>
        </p:nvPicPr>
        <p:blipFill>
          <a:blip r:embed="rId3"/>
          <a:stretch/>
        </p:blipFill>
        <p:spPr>
          <a:xfrm>
            <a:off x="457200" y="1600200"/>
            <a:ext cx="9405000" cy="388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Raspberry Pi 3 Overview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12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BE01A644-45C8-4362-B310-E265C33E7138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Raspberry Pi is a </a:t>
            </a:r>
            <a:r>
              <a:rPr b="0" lang="en-US" sz="1800" spc="-1" strike="noStrike">
                <a:solidFill>
                  <a:srgbClr val="ff0000"/>
                </a:solidFill>
                <a:latin typeface="Trebuchet MS"/>
                <a:ea typeface="DejaVu Sans"/>
              </a:rPr>
              <a:t>microcontroller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ff0000"/>
                </a:solidFill>
                <a:latin typeface="Trebuchet MS"/>
                <a:ea typeface="DejaVu Sans"/>
              </a:rPr>
              <a:t>Linux</a:t>
            </a: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-based Raspbian OS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Clock rate of 1.2GHz, with four cores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1GB of RAM and variable microSD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Similar to regular computers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Raspberry Pi has 40 </a:t>
            </a:r>
            <a:r>
              <a:rPr b="0" lang="en-US" sz="1800" spc="-1" strike="noStrike">
                <a:solidFill>
                  <a:srgbClr val="ff0000"/>
                </a:solidFill>
                <a:latin typeface="Trebuchet MS"/>
                <a:ea typeface="DejaVu Sans"/>
              </a:rPr>
              <a:t>GPIO pins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35" name="Picture 13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36" name="Picture 14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5717160" y="785880"/>
            <a:ext cx="6166800" cy="538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DHT22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13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C723B6DB-565B-4C24-BCB8-60A9965D3782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78440" cy="386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Measures temperature and humidity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Temperature accurate up to 0.5C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Humidity accurate up to 1%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Temperature range from -40C to 80C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Humidity range is 0 to 100%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Measures every 2 seconds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Data pin used for communication with library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Sensor only outputs values when requested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41" name="Picture 5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6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3"/>
          <a:stretch/>
        </p:blipFill>
        <p:spPr>
          <a:xfrm>
            <a:off x="6567840" y="2095920"/>
            <a:ext cx="3985200" cy="3161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Firebase Introduction Video Links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14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5E268E6C-C8C2-4C99-BDCE-F634F6485202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01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Firebase Introduction: 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</a:rPr>
              <a:t>https://firebase.google.com/docs/database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Beginner’s Guide: 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  <a:hlinkClick r:id="rId1"/>
              </a:rPr>
              <a:t>https://www.youtube.com/watch?v=9kRgVxULbag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47" name="Picture 11" descr=""/>
          <p:cNvPicPr/>
          <p:nvPr/>
        </p:nvPicPr>
        <p:blipFill>
          <a:blip r:embed="rId2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2" descr=""/>
          <p:cNvPicPr/>
          <p:nvPr/>
        </p:nvPicPr>
        <p:blipFill>
          <a:blip r:embed="rId3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Firebase Real-time Database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15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BAD626DE-A542-440E-A6DD-1B085A42A640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Uses JSON for communication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Can synchronize data between multiple devices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Data stored locally when offline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Supports many SDKs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Built-in cybersecurity features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Remote configuration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Firebase cloud messaging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Analytics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2" name="Picture 31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53" name="Picture 32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Android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16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93868781-F8A2-418D-9748-1F6AED66FC7F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Operating system used on many phones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Also present in other smart devices (watches, TVs, cars, etc.)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Developed and maintained by google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Based on the Linux Kernel, but does not use GNU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Open source version is Android Open Source Project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Many manufacturers modify it, but maintain compatibility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57" name="Picture 9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10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Android SDK Video Links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sldNum" idx="17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9B99D203-4D70-4C47-AD0D-B14E5A8A7F47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Introduction Video: 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</a:rPr>
              <a:t>https://developer.android.com/guide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Quick Android SDK Guide Video: 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</a:rPr>
              <a:t>https://www.youtube.com/watch?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</a:rPr>
              <a:t>v=kMI2jy-WlGM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15 Hour Course Video: 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  <a:hlinkClick r:id="rId1"/>
              </a:rPr>
              <a:t>https://www.youtube.com/watch?v=fis26HvvDII</a:t>
            </a:r>
            <a:r>
              <a:rPr b="0" lang="en-US" sz="1800" spc="-1" strike="noStrike" u="sng">
                <a:solidFill>
                  <a:srgbClr val="3fcde7"/>
                </a:solidFill>
                <a:uFillTx/>
                <a:latin typeface="Trebuchet MS"/>
                <a:ea typeface="DejaVu Sans"/>
                <a:hlinkClick r:id="rId2"/>
              </a:rPr>
              <a:t>https://www.youtube.com/watch?v=RcSHAkpwXAQ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62" name="Picture 23" descr=""/>
          <p:cNvPicPr/>
          <p:nvPr/>
        </p:nvPicPr>
        <p:blipFill>
          <a:blip r:embed="rId3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24" descr=""/>
          <p:cNvPicPr/>
          <p:nvPr/>
        </p:nvPicPr>
        <p:blipFill>
          <a:blip r:embed="rId4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Android SDK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ldNum" idx="18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02A4F26C-2810-48F0-B3FC-34A2A6A24B26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80600" cy="386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Used to develop applications for Android phones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Provides APIs to interact with phone hardware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Contains a Built-in Android emulator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Provides Android Debug Bridge(adb) command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latin typeface="Trebuchet MS"/>
                <a:ea typeface="DejaVu Sans"/>
              </a:rPr>
              <a:t>Allows app installation and debugging on physical phone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latin typeface="Trebuchet MS"/>
                <a:ea typeface="DejaVu Sans"/>
              </a:rPr>
              <a:t>Provides a system trace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Uses the Java programming language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latin typeface="Trebuchet MS"/>
                <a:ea typeface="DejaVu Sans"/>
              </a:rPr>
              <a:t>NDK available for apps that require C/C++ for performance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67" name="Picture 15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16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Firebase Setup (Demo)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ldNum" idx="19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95A1AA9D-3F1C-4041-B98E-4D97B9447096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71" name="Picture 1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2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Raspberry Pi Wiring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20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6A6081BA-553F-4BF7-B341-E445BB441886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75" name="Picture 21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76" name="Picture 22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3"/>
          <a:stretch/>
        </p:blipFill>
        <p:spPr>
          <a:xfrm>
            <a:off x="2267280" y="1612800"/>
            <a:ext cx="5276160" cy="501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Raspberry Pi Code Setup (Demo)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21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72A8DEF3-9961-45FE-A236-897F07204A40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80" name="Picture 27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81" name="Picture 28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80600" cy="130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Application Side Firebase Setup (Demo)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sldNum" idx="22"/>
          </p:nvPr>
        </p:nvSpPr>
        <p:spPr>
          <a:xfrm>
            <a:off x="676800" y="6041520"/>
            <a:ext cx="8580600" cy="351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3A8D0D39-2413-4F78-9437-86EECB8EBBA7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84" name="Picture 3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6680" cy="2959920"/>
          </a:xfrm>
          <a:prstGeom prst="rect">
            <a:avLst/>
          </a:prstGeom>
          <a:ln w="0">
            <a:noFill/>
          </a:ln>
        </p:spPr>
      </p:pic>
      <p:pic>
        <p:nvPicPr>
          <p:cNvPr id="185" name="Picture 4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31320" cy="2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Application Running on Emulator (Demo)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ldNum" idx="23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E8C06749-765F-4E2C-AFD4-EDF8BAC78A96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88" name="Picture 19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20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Application Running on Phone (Demo)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ldNum" idx="24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E3163739-2218-4BE2-8870-D5540DCB5B6A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192" name="Picture 35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93" name="Picture 36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76800" y="1143000"/>
            <a:ext cx="8578440" cy="130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5fcbef"/>
                </a:solidFill>
                <a:latin typeface="Trebuchet MS"/>
                <a:ea typeface="DejaVu Sans"/>
              </a:rPr>
              <a:t>Conclusion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sldNum" idx="25"/>
          </p:nvPr>
        </p:nvSpPr>
        <p:spPr>
          <a:xfrm>
            <a:off x="676800" y="6041520"/>
            <a:ext cx="8578440" cy="34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	</a:t>
            </a:r>
            <a:r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      </a:t>
            </a:r>
            <a:fld id="{A63514F1-A623-4225-9D12-0F703FDB54F1}" type="slidenum">
              <a:rPr b="0" lang="en-US" sz="2000" spc="-1" strike="noStrike">
                <a:solidFill>
                  <a:srgbClr val="5fcbef"/>
                </a:solidFill>
                <a:latin typeface="Trebuchet MS"/>
                <a:ea typeface="DejaVu Sans"/>
              </a:rPr>
              <a:t>1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676800" y="2192760"/>
            <a:ext cx="8578440" cy="386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Smart phones are often used to interact with people in smart systems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Android SDK can be used to develop phone applications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Firebase can manage and display data in a user-friendly manner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There are many other cloud solutions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Consider multiple different application structures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Raspberry Pi ↔ Cloud ↔ Phone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Raspberry Pi ↔ Phone ↔ Cloud</a:t>
            </a:r>
            <a:endParaRPr b="0" lang="en-US" sz="18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1800" spc="-1" strike="noStrike">
                <a:solidFill>
                  <a:srgbClr val="404040"/>
                </a:solidFill>
                <a:latin typeface="Trebuchet MS"/>
                <a:ea typeface="DejaVu Sans"/>
              </a:rPr>
              <a:t>Phone ↔ Raspberry Pi ↔ Cloud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7" name="Picture 25" descr=""/>
          <p:cNvPicPr/>
          <p:nvPr/>
        </p:nvPicPr>
        <p:blipFill>
          <a:blip r:embed="rId1"/>
          <a:stretch/>
        </p:blipFill>
        <p:spPr>
          <a:xfrm>
            <a:off x="6627960" y="-1147680"/>
            <a:ext cx="2954520" cy="2957760"/>
          </a:xfrm>
          <a:prstGeom prst="rect">
            <a:avLst/>
          </a:prstGeom>
          <a:ln w="0">
            <a:noFill/>
          </a:ln>
        </p:spPr>
      </p:pic>
      <p:pic>
        <p:nvPicPr>
          <p:cNvPr id="198" name="Picture 26" descr=""/>
          <p:cNvPicPr/>
          <p:nvPr/>
        </p:nvPicPr>
        <p:blipFill>
          <a:blip r:embed="rId2"/>
          <a:stretch/>
        </p:blipFill>
        <p:spPr>
          <a:xfrm>
            <a:off x="1600200" y="228600"/>
            <a:ext cx="2729160" cy="23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ff5050"/>
      </a:accent2>
      <a:accent3>
        <a:srgbClr val="ff0000"/>
      </a:accent3>
      <a:accent4>
        <a:srgbClr val="ff6699"/>
      </a:accent4>
      <a:accent5>
        <a:srgbClr val="ff9999"/>
      </a:accent5>
      <a:accent6>
        <a:srgbClr val="ffcccc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ff5050"/>
      </a:accent2>
      <a:accent3>
        <a:srgbClr val="ff0000"/>
      </a:accent3>
      <a:accent4>
        <a:srgbClr val="ff6699"/>
      </a:accent4>
      <a:accent5>
        <a:srgbClr val="ff9999"/>
      </a:accent5>
      <a:accent6>
        <a:srgbClr val="ffcccc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ff5050"/>
      </a:accent2>
      <a:accent3>
        <a:srgbClr val="ff0000"/>
      </a:accent3>
      <a:accent4>
        <a:srgbClr val="ff6699"/>
      </a:accent4>
      <a:accent5>
        <a:srgbClr val="ff9999"/>
      </a:accent5>
      <a:accent6>
        <a:srgbClr val="ffcccc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7594</TotalTime>
  <Application>LibreOffice/7.3.6.2$Linux_X86_64 LibreOffice_project/30$Build-2</Application>
  <AppVersion>15.0000</AppVersion>
  <Words>545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2021-02-08T17:41:25Z</dcterms:created>
  <dc:creator>David Arnold</dc:creator>
  <dc:description/>
  <dc:language>en-US</dc:language>
  <cp:lastModifiedBy>Mikhail Gromov</cp:lastModifiedBy>
  <dcterms:modified xsi:type="dcterms:W3CDTF">2022-10-18T13:56:03Z</dcterms:modified>
  <cp:revision>688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9</vt:i4>
  </property>
</Properties>
</file>